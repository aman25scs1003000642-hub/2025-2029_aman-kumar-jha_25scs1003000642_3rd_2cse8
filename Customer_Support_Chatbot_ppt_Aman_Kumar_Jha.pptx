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3931920"/>
            <a:ext cx="5943600" cy="5943600"/>
          </a:xfrm>
          <a:prstGeom prst="ellipse">
            <a:avLst/>
          </a:prstGeom>
          <a:solidFill>
            <a:srgbClr val="272C55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5303520"/>
            <a:ext cx="3108960" cy="3108960"/>
          </a:xfrm>
          <a:prstGeom prst="ellipse">
            <a:avLst/>
          </a:prstGeom>
          <a:solidFill>
            <a:srgbClr val="32387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640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INTERNSHIP REPORT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143000"/>
            <a:ext cx="502920" cy="502920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6" name="Image 0" descr="/home/claude/icons/robot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0722" y="1253642"/>
            <a:ext cx="281635" cy="28163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114300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FD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CODEC TECHNOLOGIES PVT. LTD.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21792" y="2148840"/>
            <a:ext cx="8686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Support</a:t>
            </a:r>
            <a:endParaRPr lang="en-US" sz="4800" dirty="0"/>
          </a:p>
        </p:txBody>
      </p:sp>
      <p:sp>
        <p:nvSpPr>
          <p:cNvPr id="9" name="Text 6"/>
          <p:cNvSpPr/>
          <p:nvPr/>
        </p:nvSpPr>
        <p:spPr>
          <a:xfrm>
            <a:off x="621792" y="2880360"/>
            <a:ext cx="8686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0C2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Chatbot Agent</a:t>
            </a:r>
            <a:endParaRPr lang="en-US" sz="4800" dirty="0"/>
          </a:p>
        </p:txBody>
      </p:sp>
      <p:sp>
        <p:nvSpPr>
          <p:cNvPr id="10" name="Text 7"/>
          <p:cNvSpPr/>
          <p:nvPr/>
        </p:nvSpPr>
        <p:spPr>
          <a:xfrm>
            <a:off x="640080" y="37947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FD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Intern  |  Codec Technologies Pvt. Ltd.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40080" y="41605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AICTE &amp; ICAC Approved Internship  |  National Internship Portal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40080" y="4892040"/>
            <a:ext cx="2011680" cy="0"/>
          </a:xfrm>
          <a:prstGeom prst="line">
            <a:avLst/>
          </a:prstGeom>
          <a:noFill/>
          <a:ln w="25400">
            <a:solidFill>
              <a:srgbClr val="00C2A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0080" y="507492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Aman Kumar Jha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640080" y="550468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D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University, Greater Noida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40080" y="58064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August – 03 September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1B1F3B"/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5120640"/>
            <a:ext cx="3657600" cy="3657600"/>
          </a:xfrm>
          <a:prstGeom prst="ellipse">
            <a:avLst/>
          </a:prstGeom>
          <a:solidFill>
            <a:srgbClr val="272C55"/>
          </a:solidFill>
          <a:ln/>
        </p:spPr>
      </p:sp>
      <p:sp>
        <p:nvSpPr>
          <p:cNvPr id="4" name="Shape 2"/>
          <p:cNvSpPr/>
          <p:nvPr/>
        </p:nvSpPr>
        <p:spPr>
          <a:xfrm>
            <a:off x="1600200" y="914400"/>
            <a:ext cx="822960" cy="822960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5" name="Image 0" descr="/home/claude/icons/user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05940" y="112014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196596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Aman</a:t>
            </a:r>
            <a:endParaRPr lang="en-US" sz="2600" dirty="0"/>
          </a:p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Kumar Jha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365760" y="29718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Intern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365760" y="33375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FD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University, Greater Noida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25196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THE INTERN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251960" y="82296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Candidate Profile</a:t>
            </a:r>
            <a:endParaRPr lang="en-US" sz="3200" dirty="0"/>
          </a:p>
        </p:txBody>
      </p:sp>
      <p:sp>
        <p:nvSpPr>
          <p:cNvPr id="11" name="Shape 8"/>
          <p:cNvSpPr/>
          <p:nvPr/>
        </p:nvSpPr>
        <p:spPr>
          <a:xfrm>
            <a:off x="4251960" y="1783080"/>
            <a:ext cx="475488" cy="475488"/>
          </a:xfrm>
          <a:prstGeom prst="ellipse">
            <a:avLst/>
          </a:prstGeom>
          <a:solidFill>
            <a:srgbClr val="E4F8F5"/>
          </a:solidFill>
          <a:ln/>
        </p:spPr>
      </p:sp>
      <p:pic>
        <p:nvPicPr>
          <p:cNvPr id="12" name="Image 1" descr="/home/claude/icons/building_1B1F3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0832" y="1901952"/>
            <a:ext cx="237744" cy="23774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937760" y="1764792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4937760" y="2002536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Codec Technologies Pvt. Ltd.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4251960" y="2651760"/>
            <a:ext cx="475488" cy="475488"/>
          </a:xfrm>
          <a:prstGeom prst="ellipse">
            <a:avLst/>
          </a:prstGeom>
          <a:solidFill>
            <a:srgbClr val="E4F8F5"/>
          </a:solidFill>
          <a:ln/>
        </p:spPr>
      </p:sp>
      <p:pic>
        <p:nvPicPr>
          <p:cNvPr id="16" name="Image 2" descr="/home/claude/icons/gradcap_1B1F3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0832" y="2770632"/>
            <a:ext cx="237744" cy="23774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937760" y="2633472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4937760" y="2871216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University, Greater Noida</a:t>
            </a:r>
            <a:endParaRPr lang="en-US" sz="1500" dirty="0"/>
          </a:p>
        </p:txBody>
      </p:sp>
      <p:sp>
        <p:nvSpPr>
          <p:cNvPr id="19" name="Shape 14"/>
          <p:cNvSpPr/>
          <p:nvPr/>
        </p:nvSpPr>
        <p:spPr>
          <a:xfrm>
            <a:off x="4251960" y="3520440"/>
            <a:ext cx="475488" cy="475488"/>
          </a:xfrm>
          <a:prstGeom prst="ellipse">
            <a:avLst/>
          </a:prstGeom>
          <a:solidFill>
            <a:srgbClr val="E4F8F5"/>
          </a:solidFill>
          <a:ln/>
        </p:spPr>
      </p:sp>
      <p:pic>
        <p:nvPicPr>
          <p:cNvPr id="20" name="Image 3" descr="/home/claude/icons/bullseye_1B1F3B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0832" y="3639312"/>
            <a:ext cx="237744" cy="23774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4937760" y="3502152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DOMAIN</a:t>
            </a:r>
            <a:endParaRPr lang="en-US" sz="1100" dirty="0"/>
          </a:p>
        </p:txBody>
      </p:sp>
      <p:sp>
        <p:nvSpPr>
          <p:cNvPr id="22" name="Text 16"/>
          <p:cNvSpPr/>
          <p:nvPr/>
        </p:nvSpPr>
        <p:spPr>
          <a:xfrm>
            <a:off x="4937760" y="3739896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</a:t>
            </a:r>
            <a:endParaRPr lang="en-US" sz="1500" dirty="0"/>
          </a:p>
        </p:txBody>
      </p:sp>
      <p:sp>
        <p:nvSpPr>
          <p:cNvPr id="23" name="Shape 17"/>
          <p:cNvSpPr/>
          <p:nvPr/>
        </p:nvSpPr>
        <p:spPr>
          <a:xfrm>
            <a:off x="4251960" y="4389120"/>
            <a:ext cx="475488" cy="475488"/>
          </a:xfrm>
          <a:prstGeom prst="ellipse">
            <a:avLst/>
          </a:prstGeom>
          <a:solidFill>
            <a:srgbClr val="E4F8F5"/>
          </a:solidFill>
          <a:ln/>
        </p:spPr>
      </p:sp>
      <p:pic>
        <p:nvPicPr>
          <p:cNvPr id="24" name="Image 4" descr="/home/claude/icons/clipboard_1B1F3B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70832" y="4507992"/>
            <a:ext cx="237744" cy="237744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4937760" y="4370832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1100" dirty="0"/>
          </a:p>
        </p:txBody>
      </p:sp>
      <p:sp>
        <p:nvSpPr>
          <p:cNvPr id="26" name="Text 19"/>
          <p:cNvSpPr/>
          <p:nvPr/>
        </p:nvSpPr>
        <p:spPr>
          <a:xfrm>
            <a:off x="4937760" y="4608576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Support Chatbot Agent</a:t>
            </a:r>
            <a:endParaRPr lang="en-US" sz="1500" dirty="0"/>
          </a:p>
        </p:txBody>
      </p:sp>
      <p:sp>
        <p:nvSpPr>
          <p:cNvPr id="27" name="Shape 20"/>
          <p:cNvSpPr/>
          <p:nvPr/>
        </p:nvSpPr>
        <p:spPr>
          <a:xfrm>
            <a:off x="4251960" y="5257800"/>
            <a:ext cx="475488" cy="475488"/>
          </a:xfrm>
          <a:prstGeom prst="ellipse">
            <a:avLst/>
          </a:prstGeom>
          <a:solidFill>
            <a:srgbClr val="E4F8F5"/>
          </a:solidFill>
          <a:ln/>
        </p:spPr>
      </p:sp>
      <p:pic>
        <p:nvPicPr>
          <p:cNvPr id="28" name="Image 5" descr="/home/claude/icons/calendar_1B1F3B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70832" y="5376672"/>
            <a:ext cx="237744" cy="237744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4937760" y="5239512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1100" dirty="0"/>
          </a:p>
        </p:txBody>
      </p:sp>
      <p:sp>
        <p:nvSpPr>
          <p:cNvPr id="30" name="Text 22"/>
          <p:cNvSpPr/>
          <p:nvPr/>
        </p:nvSpPr>
        <p:spPr>
          <a:xfrm>
            <a:off x="4937760" y="5477256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Month | 02 Aug – 03 Sep 2026</a:t>
            </a:r>
            <a:endParaRPr lang="en-US" sz="1500" dirty="0"/>
          </a:p>
        </p:txBody>
      </p:sp>
      <p:sp>
        <p:nvSpPr>
          <p:cNvPr id="31" name="Text 23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Support Chatbot Agent  •  AI Internship Report  •  Aman Kumar Jha</a:t>
            </a:r>
            <a:endParaRPr lang="en-US" sz="900" dirty="0"/>
          </a:p>
        </p:txBody>
      </p:sp>
      <p:sp>
        <p:nvSpPr>
          <p:cNvPr id="32" name="Text 2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THE PROGRAM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Codec Technologies &amp; the National Internship Portal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64240" cy="1234440"/>
          </a:xfrm>
          <a:prstGeom prst="rect">
            <a:avLst>
              <a:gd name="adj" fmla="val 5926"/>
            </a:avLst>
          </a:prstGeom>
          <a:solidFill>
            <a:srgbClr val="EDEFFB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00200"/>
            <a:ext cx="10515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Codec Technologies Pvt. Ltd. is a Google for Education partner delivering AICTE &amp; ICAC-approved industry internships through the Ministry of Education’s National Internship Portal. The one-month Artificial Intelligence Internship gives students hands-on, project-based exposure to building real AI/ML-driven applications.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3063240"/>
            <a:ext cx="3566160" cy="2743200"/>
          </a:xfrm>
          <a:prstGeom prst="rect">
            <a:avLst>
              <a:gd name="adj" fmla="val 2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F3B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965960" y="3337560"/>
            <a:ext cx="731520" cy="731520"/>
          </a:xfrm>
          <a:prstGeom prst="ellipse">
            <a:avLst/>
          </a:prstGeom>
          <a:solidFill>
            <a:srgbClr val="1B1F3B"/>
          </a:solidFill>
          <a:ln/>
        </p:spPr>
      </p:sp>
      <p:pic>
        <p:nvPicPr>
          <p:cNvPr id="8" name="Image 0" descr="/home/claude/icons/certificate_00C2A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48840" y="352044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77240" y="42976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AICTE &amp; ICAC Approved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22960" y="475488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Recognized under the Ministry of Education’s National Internship Portal.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343400" y="3063240"/>
            <a:ext cx="3566160" cy="2743200"/>
          </a:xfrm>
          <a:prstGeom prst="rect">
            <a:avLst>
              <a:gd name="adj" fmla="val 2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F3B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760720" y="3337560"/>
            <a:ext cx="731520" cy="731520"/>
          </a:xfrm>
          <a:prstGeom prst="ellipse">
            <a:avLst/>
          </a:prstGeom>
          <a:solidFill>
            <a:srgbClr val="1B1F3B"/>
          </a:solidFill>
          <a:ln/>
        </p:spPr>
      </p:sp>
      <p:pic>
        <p:nvPicPr>
          <p:cNvPr id="13" name="Image 1" descr="/home/claude/icons/building_00C2A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352044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572000" y="42976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Codec Technologies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4617720" y="475488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mentorship from Codec Technologies Pvt. Ltd.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8138160" y="3063240"/>
            <a:ext cx="3566160" cy="2743200"/>
          </a:xfrm>
          <a:prstGeom prst="rect">
            <a:avLst>
              <a:gd name="adj" fmla="val 2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F3B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9555480" y="3337560"/>
            <a:ext cx="731520" cy="731520"/>
          </a:xfrm>
          <a:prstGeom prst="ellipse">
            <a:avLst/>
          </a:prstGeom>
          <a:solidFill>
            <a:srgbClr val="1B1F3B"/>
          </a:solidFill>
          <a:ln/>
        </p:spPr>
      </p:sp>
      <p:pic>
        <p:nvPicPr>
          <p:cNvPr id="18" name="Image 2" descr="/home/claude/icons/gradcap_00C2A8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8360" y="3520440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366760" y="42976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Google for Education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8412480" y="475488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in partnership with Google for Education.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Support Chatbot Agent  •  AI Internship Report  •  Aman Kumar Jha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-1371600"/>
            <a:ext cx="4572000" cy="4572000"/>
          </a:xfrm>
          <a:prstGeom prst="ellipse">
            <a:avLst/>
          </a:prstGeom>
          <a:solidFill>
            <a:srgbClr val="272C5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9601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Repetitive Questions Slow Down Support Teams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6949440" cy="4480560"/>
          </a:xfrm>
          <a:prstGeom prst="rect">
            <a:avLst>
              <a:gd name="adj" fmla="val 1633"/>
            </a:avLst>
          </a:prstGeom>
          <a:solidFill>
            <a:srgbClr val="272C55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874520"/>
            <a:ext cx="630936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repeatedly ask the same questions</a:t>
            </a:r>
            <a:endParaRPr lang="en-US" sz="14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CFD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"Where is my order?", "How long will delivery take?", "Can I return this?", "When is my refund?"</a:t>
            </a:r>
            <a:endParaRPr lang="en-US" sz="14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CFD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agents lose time on simple, repetitive queries, and customers wait even when their question has an easy answer. </a:t>
            </a:r>
            <a:endParaRPr lang="en-US" sz="14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5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solution: </a:t>
            </a:r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CFD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chatbot that instantly answers common support questions from a prepared knowledge base — easy to use, easy to update, and simple to run.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772400" y="1645920"/>
            <a:ext cx="3840480" cy="4480560"/>
          </a:xfrm>
          <a:prstGeom prst="rect">
            <a:avLst>
              <a:gd name="adj" fmla="val 1905"/>
            </a:avLst>
          </a:prstGeom>
          <a:solidFill>
            <a:srgbClr val="272C55"/>
          </a:solidFill>
          <a:ln/>
        </p:spPr>
      </p:sp>
      <p:sp>
        <p:nvSpPr>
          <p:cNvPr id="8" name="Shape 6"/>
          <p:cNvSpPr/>
          <p:nvPr/>
        </p:nvSpPr>
        <p:spPr>
          <a:xfrm>
            <a:off x="8732520" y="2011680"/>
            <a:ext cx="777240" cy="777240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9" name="Image 0" descr="/home/claude/icons/comments_1B1F3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07399" y="2186559"/>
            <a:ext cx="427482" cy="42748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772400" y="292608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6000" dirty="0"/>
          </a:p>
        </p:txBody>
      </p:sp>
      <p:sp>
        <p:nvSpPr>
          <p:cNvPr id="11" name="Text 8"/>
          <p:cNvSpPr/>
          <p:nvPr/>
        </p:nvSpPr>
        <p:spPr>
          <a:xfrm>
            <a:off x="7955280" y="379476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FD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support categories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CFD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instantly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8229600" y="4754880"/>
            <a:ext cx="2926080" cy="0"/>
          </a:xfrm>
          <a:prstGeom prst="line">
            <a:avLst/>
          </a:prstGeom>
          <a:noFill/>
          <a:ln w="12700">
            <a:solidFill>
              <a:srgbClr val="41478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955280" y="493776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A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· Delivery · Returns · Refunds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9A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· Cancellations · Accounts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A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Support Chatbot Agent  •  AI Internship Report  •  Aman Kumar Jha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Project Set Out to Achieve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611880" cy="2103120"/>
          </a:xfrm>
          <a:prstGeom prst="rect">
            <a:avLst>
              <a:gd name="adj" fmla="val 30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1F3B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828800"/>
            <a:ext cx="502920" cy="502920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6" name="Image 0" descr="/home/claude/icons/robot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0397" y="1941957"/>
            <a:ext cx="276606" cy="27660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46888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the Chatbot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77240" y="2807208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 customer-support chatbot using Python.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43400" y="1600200"/>
            <a:ext cx="3611880" cy="2103120"/>
          </a:xfrm>
          <a:prstGeom prst="rect">
            <a:avLst>
              <a:gd name="adj" fmla="val 30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1F3B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72000" y="1828800"/>
            <a:ext cx="502920" cy="502920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11" name="Image 1" descr="/home/claude/icons/comments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5157" y="1941957"/>
            <a:ext cx="276606" cy="27660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72000" y="246888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Friendly Interface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572000" y="2807208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a friendly, browser-based conversational interface with Streamlit.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138160" y="1600200"/>
            <a:ext cx="3611880" cy="2103120"/>
          </a:xfrm>
          <a:prstGeom prst="rect">
            <a:avLst>
              <a:gd name="adj" fmla="val 30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1F3B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66760" y="1828800"/>
            <a:ext cx="502920" cy="502920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16" name="Image 2" descr="/home/claude/icons/clipboard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9917" y="1941957"/>
            <a:ext cx="276606" cy="27660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66760" y="246888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Cover Key Topics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366760" y="2807208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common questions on orders, delivery, returns, refunds, payments, cancellations &amp; accounts.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48640" y="3931920"/>
            <a:ext cx="3611880" cy="2103120"/>
          </a:xfrm>
          <a:prstGeom prst="rect">
            <a:avLst>
              <a:gd name="adj" fmla="val 30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1F3B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77240" y="4160520"/>
            <a:ext cx="502920" cy="502920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21" name="Image 3" descr="/home/claude/icons/database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0397" y="4273677"/>
            <a:ext cx="276606" cy="27660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77240" y="480060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JSON Knowledge Base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777240" y="5138928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support information in a separate, easily-updatable JSON file.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343400" y="3931920"/>
            <a:ext cx="3611880" cy="2103120"/>
          </a:xfrm>
          <a:prstGeom prst="rect">
            <a:avLst>
              <a:gd name="adj" fmla="val 30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1F3B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72000" y="4160520"/>
            <a:ext cx="502920" cy="502920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26" name="Image 4" descr="/home/claude/icons/reply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5157" y="4273677"/>
            <a:ext cx="276606" cy="27660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72000" y="480060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Fallback Handling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4572000" y="5138928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a helpful fallback response for unknown queries.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8138160" y="3931920"/>
            <a:ext cx="3611880" cy="2103120"/>
          </a:xfrm>
          <a:prstGeom prst="rect">
            <a:avLst>
              <a:gd name="adj" fmla="val 30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1F3B">
                <a:alpha val="1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366760" y="4160520"/>
            <a:ext cx="502920" cy="502920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31" name="Image 5" descr="/home/claude/icons/rocket_FFFFFF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9917" y="4273677"/>
            <a:ext cx="276606" cy="27660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366760" y="480060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Future-Ready Foundation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8366760" y="5138928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base that can later be extended with an LLM, database, and business APIs.</a:t>
            </a:r>
            <a:endParaRPr lang="en-US" sz="1150" dirty="0"/>
          </a:p>
        </p:txBody>
      </p:sp>
      <p:sp>
        <p:nvSpPr>
          <p:cNvPr id="34" name="Text 26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Support Chatbot Agent  •  AI Internship Report  •  Aman Kumar Jha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&amp; WORKING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Toolkit Behind the Chatbot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139696" cy="1417320"/>
          </a:xfrm>
          <a:prstGeom prst="rect">
            <a:avLst>
              <a:gd name="adj" fmla="val 4516"/>
            </a:avLst>
          </a:prstGeom>
          <a:solidFill>
            <a:srgbClr val="1B1F3B"/>
          </a:solidFill>
          <a:ln/>
        </p:spPr>
      </p:sp>
      <p:sp>
        <p:nvSpPr>
          <p:cNvPr id="5" name="Shape 3"/>
          <p:cNvSpPr/>
          <p:nvPr/>
        </p:nvSpPr>
        <p:spPr>
          <a:xfrm>
            <a:off x="1389888" y="1737360"/>
            <a:ext cx="457200" cy="457200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6" name="Image 0" descr="/home/claude/icons/code_1B1F3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92758" y="1840230"/>
            <a:ext cx="251460" cy="2514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286000"/>
            <a:ext cx="19568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40080" y="2578608"/>
            <a:ext cx="19568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 logic &amp; app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2807208" y="1554480"/>
            <a:ext cx="2139696" cy="1417320"/>
          </a:xfrm>
          <a:prstGeom prst="rect">
            <a:avLst>
              <a:gd name="adj" fmla="val 4516"/>
            </a:avLst>
          </a:prstGeom>
          <a:solidFill>
            <a:srgbClr val="1B1F3B"/>
          </a:solidFill>
          <a:ln/>
        </p:spPr>
      </p:sp>
      <p:sp>
        <p:nvSpPr>
          <p:cNvPr id="10" name="Shape 7"/>
          <p:cNvSpPr/>
          <p:nvPr/>
        </p:nvSpPr>
        <p:spPr>
          <a:xfrm>
            <a:off x="3648456" y="1737360"/>
            <a:ext cx="457200" cy="457200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11" name="Image 1" descr="/home/claude/icons/layers_1B1F3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1326" y="1840230"/>
            <a:ext cx="251460" cy="2514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898648" y="2286000"/>
            <a:ext cx="19568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Streamlit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2898648" y="2578608"/>
            <a:ext cx="19568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chat interface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5065776" y="1554480"/>
            <a:ext cx="2139696" cy="1417320"/>
          </a:xfrm>
          <a:prstGeom prst="rect">
            <a:avLst>
              <a:gd name="adj" fmla="val 4516"/>
            </a:avLst>
          </a:prstGeom>
          <a:solidFill>
            <a:srgbClr val="1B1F3B"/>
          </a:solidFill>
          <a:ln/>
        </p:spPr>
      </p:sp>
      <p:sp>
        <p:nvSpPr>
          <p:cNvPr id="15" name="Shape 11"/>
          <p:cNvSpPr/>
          <p:nvPr/>
        </p:nvSpPr>
        <p:spPr>
          <a:xfrm>
            <a:off x="5907024" y="1737360"/>
            <a:ext cx="457200" cy="457200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16" name="Image 2" descr="/home/claude/icons/database_1B1F3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9894" y="1840230"/>
            <a:ext cx="251460" cy="2514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157216" y="2286000"/>
            <a:ext cx="19568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JSON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5157216" y="2578608"/>
            <a:ext cx="19568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FAQ knowledge base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7324344" y="1554480"/>
            <a:ext cx="2139696" cy="1417320"/>
          </a:xfrm>
          <a:prstGeom prst="rect">
            <a:avLst>
              <a:gd name="adj" fmla="val 4516"/>
            </a:avLst>
          </a:prstGeom>
          <a:solidFill>
            <a:srgbClr val="1B1F3B"/>
          </a:solidFill>
          <a:ln/>
        </p:spPr>
      </p:sp>
      <p:sp>
        <p:nvSpPr>
          <p:cNvPr id="20" name="Shape 15"/>
          <p:cNvSpPr/>
          <p:nvPr/>
        </p:nvSpPr>
        <p:spPr>
          <a:xfrm>
            <a:off x="8165592" y="1737360"/>
            <a:ext cx="457200" cy="457200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21" name="Image 3" descr="/home/claude/icons/filter_1B1F3B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8462" y="1840230"/>
            <a:ext cx="251460" cy="2514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15784" y="2286000"/>
            <a:ext cx="19568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Regex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7415784" y="2578608"/>
            <a:ext cx="19568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cleaning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9582912" y="1554480"/>
            <a:ext cx="2139696" cy="1417320"/>
          </a:xfrm>
          <a:prstGeom prst="rect">
            <a:avLst>
              <a:gd name="adj" fmla="val 4516"/>
            </a:avLst>
          </a:prstGeom>
          <a:solidFill>
            <a:srgbClr val="1B1F3B"/>
          </a:solidFill>
          <a:ln/>
        </p:spPr>
      </p:sp>
      <p:sp>
        <p:nvSpPr>
          <p:cNvPr id="25" name="Shape 19"/>
          <p:cNvSpPr/>
          <p:nvPr/>
        </p:nvSpPr>
        <p:spPr>
          <a:xfrm>
            <a:off x="10424160" y="1737360"/>
            <a:ext cx="457200" cy="457200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26" name="Image 4" descr="/home/claude/icons/github_1B1F3B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27030" y="1840230"/>
            <a:ext cx="251460" cy="25146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674352" y="2286000"/>
            <a:ext cx="19568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 &amp; GitHub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9674352" y="2578608"/>
            <a:ext cx="19568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</a:t>
            </a:r>
            <a:endParaRPr lang="en-US" sz="950" dirty="0"/>
          </a:p>
        </p:txBody>
      </p:sp>
      <p:sp>
        <p:nvSpPr>
          <p:cNvPr id="29" name="Text 22"/>
          <p:cNvSpPr/>
          <p:nvPr/>
        </p:nvSpPr>
        <p:spPr>
          <a:xfrm>
            <a:off x="548640" y="33832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WORKFLOW</a:t>
            </a:r>
            <a:endParaRPr lang="en-US" sz="1200" dirty="0"/>
          </a:p>
        </p:txBody>
      </p:sp>
      <p:sp>
        <p:nvSpPr>
          <p:cNvPr id="30" name="Shape 23"/>
          <p:cNvSpPr/>
          <p:nvPr/>
        </p:nvSpPr>
        <p:spPr>
          <a:xfrm>
            <a:off x="548640" y="3886200"/>
            <a:ext cx="1847088" cy="1371600"/>
          </a:xfrm>
          <a:prstGeom prst="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E2E4F2"/>
            </a:solidFill>
            <a:prstDash val="solid"/>
          </a:ln>
          <a:effectLst>
            <a:outerShdw sx="100000" sy="100000" kx="0" ky="0" algn="bl" rotWithShape="0" blurRad="76200" dist="25400" dir="5400000">
              <a:srgbClr val="1B1F3B">
                <a:alpha val="10000"/>
              </a:srgbClr>
            </a:outerShdw>
          </a:effectLst>
        </p:spPr>
      </p:sp>
      <p:sp>
        <p:nvSpPr>
          <p:cNvPr id="31" name="Text 24"/>
          <p:cNvSpPr/>
          <p:nvPr/>
        </p:nvSpPr>
        <p:spPr>
          <a:xfrm>
            <a:off x="685800" y="39776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2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32" name="Text 25"/>
          <p:cNvSpPr/>
          <p:nvPr/>
        </p:nvSpPr>
        <p:spPr>
          <a:xfrm>
            <a:off x="640080" y="4297680"/>
            <a:ext cx="166420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</a:t>
            </a:r>
            <a:endParaRPr lang="en-US" sz="1300" dirty="0"/>
          </a:p>
        </p:txBody>
      </p:sp>
      <p:sp>
        <p:nvSpPr>
          <p:cNvPr id="33" name="Text 26"/>
          <p:cNvSpPr/>
          <p:nvPr/>
        </p:nvSpPr>
        <p:spPr>
          <a:xfrm>
            <a:off x="2414016" y="4251960"/>
            <a:ext cx="228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34" name="Shape 27"/>
          <p:cNvSpPr/>
          <p:nvPr/>
        </p:nvSpPr>
        <p:spPr>
          <a:xfrm>
            <a:off x="2660904" y="3886200"/>
            <a:ext cx="1847088" cy="1371600"/>
          </a:xfrm>
          <a:prstGeom prst="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E2E4F2"/>
            </a:solidFill>
            <a:prstDash val="solid"/>
          </a:ln>
          <a:effectLst>
            <a:outerShdw sx="100000" sy="100000" kx="0" ky="0" algn="bl" rotWithShape="0" blurRad="76200" dist="25400" dir="5400000">
              <a:srgbClr val="1B1F3B">
                <a:alpha val="10000"/>
              </a:srgbClr>
            </a:outerShdw>
          </a:effectLst>
        </p:spPr>
      </p:sp>
      <p:sp>
        <p:nvSpPr>
          <p:cNvPr id="35" name="Text 28"/>
          <p:cNvSpPr/>
          <p:nvPr/>
        </p:nvSpPr>
        <p:spPr>
          <a:xfrm>
            <a:off x="2798064" y="39776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2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36" name="Text 29"/>
          <p:cNvSpPr/>
          <p:nvPr/>
        </p:nvSpPr>
        <p:spPr>
          <a:xfrm>
            <a:off x="2752344" y="4297680"/>
            <a:ext cx="166420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</a:t>
            </a:r>
            <a:endParaRPr lang="en-US" sz="1300" dirty="0"/>
          </a:p>
        </p:txBody>
      </p:sp>
      <p:sp>
        <p:nvSpPr>
          <p:cNvPr id="37" name="Text 30"/>
          <p:cNvSpPr/>
          <p:nvPr/>
        </p:nvSpPr>
        <p:spPr>
          <a:xfrm>
            <a:off x="4526280" y="4251960"/>
            <a:ext cx="228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38" name="Shape 31"/>
          <p:cNvSpPr/>
          <p:nvPr/>
        </p:nvSpPr>
        <p:spPr>
          <a:xfrm>
            <a:off x="4773168" y="3886200"/>
            <a:ext cx="1847088" cy="1371600"/>
          </a:xfrm>
          <a:prstGeom prst="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E2E4F2"/>
            </a:solidFill>
            <a:prstDash val="solid"/>
          </a:ln>
          <a:effectLst>
            <a:outerShdw sx="100000" sy="100000" kx="0" ky="0" algn="bl" rotWithShape="0" blurRad="76200" dist="25400" dir="5400000">
              <a:srgbClr val="1B1F3B">
                <a:alpha val="10000"/>
              </a:srgbClr>
            </a:outerShdw>
          </a:effectLst>
        </p:spPr>
      </p:sp>
      <p:sp>
        <p:nvSpPr>
          <p:cNvPr id="39" name="Text 32"/>
          <p:cNvSpPr/>
          <p:nvPr/>
        </p:nvSpPr>
        <p:spPr>
          <a:xfrm>
            <a:off x="4910328" y="39776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2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40" name="Text 33"/>
          <p:cNvSpPr/>
          <p:nvPr/>
        </p:nvSpPr>
        <p:spPr>
          <a:xfrm>
            <a:off x="4864608" y="4297680"/>
            <a:ext cx="166420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</a:t>
            </a:r>
            <a:endParaRPr lang="en-US" sz="1300" dirty="0"/>
          </a:p>
        </p:txBody>
      </p:sp>
      <p:sp>
        <p:nvSpPr>
          <p:cNvPr id="41" name="Text 34"/>
          <p:cNvSpPr/>
          <p:nvPr/>
        </p:nvSpPr>
        <p:spPr>
          <a:xfrm>
            <a:off x="6638544" y="4251960"/>
            <a:ext cx="228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42" name="Shape 35"/>
          <p:cNvSpPr/>
          <p:nvPr/>
        </p:nvSpPr>
        <p:spPr>
          <a:xfrm>
            <a:off x="6885432" y="3886200"/>
            <a:ext cx="1847088" cy="1371600"/>
          </a:xfrm>
          <a:prstGeom prst="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E2E4F2"/>
            </a:solidFill>
            <a:prstDash val="solid"/>
          </a:ln>
          <a:effectLst>
            <a:outerShdw sx="100000" sy="100000" kx="0" ky="0" algn="bl" rotWithShape="0" blurRad="76200" dist="25400" dir="5400000">
              <a:srgbClr val="1B1F3B">
                <a:alpha val="10000"/>
              </a:srgbClr>
            </a:outerShdw>
          </a:effectLst>
        </p:spPr>
      </p:sp>
      <p:sp>
        <p:nvSpPr>
          <p:cNvPr id="43" name="Text 36"/>
          <p:cNvSpPr/>
          <p:nvPr/>
        </p:nvSpPr>
        <p:spPr>
          <a:xfrm>
            <a:off x="7022592" y="39776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2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44" name="Text 37"/>
          <p:cNvSpPr/>
          <p:nvPr/>
        </p:nvSpPr>
        <p:spPr>
          <a:xfrm>
            <a:off x="6976872" y="4297680"/>
            <a:ext cx="166420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FAQ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</a:t>
            </a:r>
            <a:endParaRPr lang="en-US" sz="1300" dirty="0"/>
          </a:p>
        </p:txBody>
      </p:sp>
      <p:sp>
        <p:nvSpPr>
          <p:cNvPr id="45" name="Text 38"/>
          <p:cNvSpPr/>
          <p:nvPr/>
        </p:nvSpPr>
        <p:spPr>
          <a:xfrm>
            <a:off x="8750808" y="4251960"/>
            <a:ext cx="228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46" name="Shape 39"/>
          <p:cNvSpPr/>
          <p:nvPr/>
        </p:nvSpPr>
        <p:spPr>
          <a:xfrm>
            <a:off x="8997696" y="3886200"/>
            <a:ext cx="1847088" cy="1371600"/>
          </a:xfrm>
          <a:prstGeom prst="rect">
            <a:avLst>
              <a:gd name="adj" fmla="val 4667"/>
            </a:avLst>
          </a:prstGeom>
          <a:solidFill>
            <a:srgbClr val="00C2A8"/>
          </a:solidFill>
          <a:ln w="12700">
            <a:solidFill>
              <a:srgbClr val="E2E4F2"/>
            </a:solidFill>
            <a:prstDash val="solid"/>
          </a:ln>
          <a:effectLst>
            <a:outerShdw sx="100000" sy="100000" kx="0" ky="0" algn="bl" rotWithShape="0" blurRad="76200" dist="25400" dir="5400000">
              <a:srgbClr val="1B1F3B">
                <a:alpha val="10000"/>
              </a:srgbClr>
            </a:outerShdw>
          </a:effectLst>
        </p:spPr>
      </p:sp>
      <p:sp>
        <p:nvSpPr>
          <p:cNvPr id="47" name="Text 40"/>
          <p:cNvSpPr/>
          <p:nvPr/>
        </p:nvSpPr>
        <p:spPr>
          <a:xfrm>
            <a:off x="9134856" y="39776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48" name="Text 41"/>
          <p:cNvSpPr/>
          <p:nvPr/>
        </p:nvSpPr>
        <p:spPr>
          <a:xfrm>
            <a:off x="9089136" y="4297680"/>
            <a:ext cx="166420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1300" dirty="0"/>
          </a:p>
        </p:txBody>
      </p:sp>
      <p:sp>
        <p:nvSpPr>
          <p:cNvPr id="49" name="Text 42"/>
          <p:cNvSpPr/>
          <p:nvPr/>
        </p:nvSpPr>
        <p:spPr>
          <a:xfrm>
            <a:off x="548640" y="553212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chatbot lowercases and cleans each message, scores it against keywords stored in faqs.json, and returns the highest-scoring answer — or a friendly fallback if nothing matches.</a:t>
            </a:r>
            <a:endParaRPr lang="en-US" sz="1250" dirty="0"/>
          </a:p>
        </p:txBody>
      </p:sp>
      <p:sp>
        <p:nvSpPr>
          <p:cNvPr id="50" name="Text 43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Support Chatbot Agent  •  AI Internship Report  •  Aman Kumar Jha</a:t>
            </a:r>
            <a:endParaRPr lang="en-US" sz="900" dirty="0"/>
          </a:p>
        </p:txBody>
      </p:sp>
      <p:sp>
        <p:nvSpPr>
          <p:cNvPr id="51" name="Text 4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STRUCTURE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Modules &amp; File Organization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4206240" cy="4434840"/>
          </a:xfrm>
          <a:prstGeom prst="rect">
            <a:avLst>
              <a:gd name="adj" fmla="val 1739"/>
            </a:avLst>
          </a:prstGeom>
          <a:solidFill>
            <a:srgbClr val="1B1F3B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288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customer-chatbot-agent/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2240280"/>
            <a:ext cx="374904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E4F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app.py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E4F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chatbot.py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E4F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requirements.txt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E4F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README.md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E4F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PROJECT_EXPLANATION.md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E4F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.gitignore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E4F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data/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E4F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└── faqs.json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0" y="1600200"/>
            <a:ext cx="502920" cy="502920"/>
          </a:xfrm>
          <a:prstGeom prst="ellipse">
            <a:avLst/>
          </a:prstGeom>
          <a:solidFill>
            <a:srgbClr val="E4F8F5"/>
          </a:solidFill>
          <a:ln/>
        </p:spPr>
      </p:sp>
      <p:pic>
        <p:nvPicPr>
          <p:cNvPr id="8" name="Image 0" descr="/home/claude/icons/layers_1B1F3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42357" y="1713357"/>
            <a:ext cx="276606" cy="27660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715000" y="1572768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app.py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715000" y="1892808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page: displays conversation, accepts input, shows responses.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029200" y="2651760"/>
            <a:ext cx="502920" cy="502920"/>
          </a:xfrm>
          <a:prstGeom prst="ellipse">
            <a:avLst/>
          </a:prstGeom>
          <a:solidFill>
            <a:srgbClr val="E4F8F5"/>
          </a:solidFill>
          <a:ln/>
        </p:spPr>
      </p:sp>
      <p:pic>
        <p:nvPicPr>
          <p:cNvPr id="12" name="Image 1" descr="/home/claude/icons/robot_1B1F3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2357" y="2764917"/>
            <a:ext cx="276606" cy="27660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715000" y="2624328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chatbot.py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5715000" y="2944368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CustomerSupportBot class — loads FAQs, cleans input, matches keywords.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5029200" y="3703320"/>
            <a:ext cx="502920" cy="502920"/>
          </a:xfrm>
          <a:prstGeom prst="ellipse">
            <a:avLst/>
          </a:prstGeom>
          <a:solidFill>
            <a:srgbClr val="E4F8F5"/>
          </a:solidFill>
          <a:ln/>
        </p:spPr>
      </p:sp>
      <p:pic>
        <p:nvPicPr>
          <p:cNvPr id="16" name="Image 2" descr="/home/claude/icons/database_1B1F3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2357" y="3816477"/>
            <a:ext cx="276606" cy="27660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715000" y="3675888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data/faqs.json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5715000" y="3995928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base of support topics, keywords &amp; answers — easy to extend.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029200" y="4754880"/>
            <a:ext cx="502920" cy="502920"/>
          </a:xfrm>
          <a:prstGeom prst="ellipse">
            <a:avLst/>
          </a:prstGeom>
          <a:solidFill>
            <a:srgbClr val="E4F8F5"/>
          </a:solidFill>
          <a:ln/>
        </p:spPr>
      </p:sp>
      <p:pic>
        <p:nvPicPr>
          <p:cNvPr id="20" name="Image 3" descr="/home/claude/icons/file_1B1F3B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2357" y="4868037"/>
            <a:ext cx="276606" cy="27660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715000" y="4727448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README.md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5715000" y="5047488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instructions and technical documentation.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Support Chatbot Agent  •  AI Internship Report  •  Aman Kumar Jha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 Test Cases Passed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7680960" cy="457200"/>
          </a:xfrm>
          <a:prstGeom prst="rect">
            <a:avLst/>
          </a:prstGeom>
          <a:solidFill>
            <a:srgbClr val="1B1F3B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691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88720" y="16916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INPUT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800600" y="1691640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 RESPONSE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148840"/>
            <a:ext cx="768096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148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88720" y="21488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"Hello"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800600" y="2148840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Friendly greeting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2606040"/>
            <a:ext cx="7680960" cy="457200"/>
          </a:xfrm>
          <a:prstGeom prst="rect">
            <a:avLst/>
          </a:prstGeom>
          <a:solidFill>
            <a:srgbClr val="EDEFFB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606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88720" y="26060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"Where is my order?"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800600" y="2606040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tracking information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063240"/>
            <a:ext cx="768096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3063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88720" y="30632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long does delivery take?"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800600" y="3063240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information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3520440"/>
            <a:ext cx="7680960" cy="457200"/>
          </a:xfrm>
          <a:prstGeom prst="rect">
            <a:avLst/>
          </a:prstGeom>
          <a:solidFill>
            <a:srgbClr val="EDEFFB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3520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88720" y="35204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want to return my product"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800600" y="3520440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information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3977640"/>
            <a:ext cx="768096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685800" y="3977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188720" y="39776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"When will I get my refund?"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800600" y="3977640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Refund information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48640" y="4434840"/>
            <a:ext cx="7680960" cy="457200"/>
          </a:xfrm>
          <a:prstGeom prst="rect">
            <a:avLst/>
          </a:prstGeom>
          <a:solidFill>
            <a:srgbClr val="EDEFFB"/>
          </a:solidFill>
          <a:ln/>
        </p:spPr>
      </p:sp>
      <p:sp>
        <p:nvSpPr>
          <p:cNvPr id="29" name="Text 27"/>
          <p:cNvSpPr/>
          <p:nvPr/>
        </p:nvSpPr>
        <p:spPr>
          <a:xfrm>
            <a:off x="685800" y="4434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188720" y="44348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payment methods do you accept?"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800600" y="4434840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information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548640" y="4892040"/>
            <a:ext cx="768096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Text 31"/>
          <p:cNvSpPr/>
          <p:nvPr/>
        </p:nvSpPr>
        <p:spPr>
          <a:xfrm>
            <a:off x="685800" y="4892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188720" y="48920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 question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4800600" y="4892040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response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8503920" y="1691640"/>
            <a:ext cx="3108960" cy="4434840"/>
          </a:xfrm>
          <a:prstGeom prst="rect">
            <a:avLst>
              <a:gd name="adj" fmla="val 2353"/>
            </a:avLst>
          </a:prstGeom>
          <a:solidFill>
            <a:srgbClr val="00C2A8"/>
          </a:solidFill>
          <a:ln/>
        </p:spPr>
      </p:sp>
      <p:sp>
        <p:nvSpPr>
          <p:cNvPr id="37" name="Shape 35"/>
          <p:cNvSpPr/>
          <p:nvPr/>
        </p:nvSpPr>
        <p:spPr>
          <a:xfrm>
            <a:off x="9738360" y="2057400"/>
            <a:ext cx="640080" cy="640080"/>
          </a:xfrm>
          <a:prstGeom prst="ellipse">
            <a:avLst/>
          </a:prstGeom>
          <a:solidFill>
            <a:srgbClr val="1B1F3B"/>
          </a:solidFill>
          <a:ln/>
        </p:spPr>
      </p:sp>
      <p:pic>
        <p:nvPicPr>
          <p:cNvPr id="38" name="Image 0" descr="/home/claude/icons/check_00C2A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66376" y="2185416"/>
            <a:ext cx="384048" cy="384048"/>
          </a:xfrm>
          <a:prstGeom prst="rect">
            <a:avLst/>
          </a:prstGeom>
        </p:spPr>
      </p:pic>
      <p:sp>
        <p:nvSpPr>
          <p:cNvPr id="39" name="Text 36"/>
          <p:cNvSpPr/>
          <p:nvPr/>
        </p:nvSpPr>
        <p:spPr>
          <a:xfrm>
            <a:off x="8503920" y="288036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/ 7</a:t>
            </a:r>
            <a:endParaRPr lang="en-US" sz="4600" dirty="0"/>
          </a:p>
        </p:txBody>
      </p:sp>
      <p:sp>
        <p:nvSpPr>
          <p:cNvPr id="40" name="Text 37"/>
          <p:cNvSpPr/>
          <p:nvPr/>
        </p:nvSpPr>
        <p:spPr>
          <a:xfrm>
            <a:off x="8503920" y="36118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 passed</a:t>
            </a:r>
            <a:endParaRPr lang="en-US" sz="1300" dirty="0"/>
          </a:p>
        </p:txBody>
      </p:sp>
      <p:sp>
        <p:nvSpPr>
          <p:cNvPr id="41" name="Shape 38"/>
          <p:cNvSpPr/>
          <p:nvPr/>
        </p:nvSpPr>
        <p:spPr>
          <a:xfrm>
            <a:off x="8778240" y="4160520"/>
            <a:ext cx="2560320" cy="0"/>
          </a:xfrm>
          <a:prstGeom prst="line">
            <a:avLst/>
          </a:prstGeom>
          <a:noFill/>
          <a:ln w="12700">
            <a:solidFill>
              <a:srgbClr val="1B1F3B"/>
            </a:solidFill>
            <a:prstDash val="dash"/>
          </a:ln>
        </p:spPr>
      </p:sp>
      <p:sp>
        <p:nvSpPr>
          <p:cNvPr id="42" name="Text 39"/>
          <p:cNvSpPr/>
          <p:nvPr/>
        </p:nvSpPr>
        <p:spPr>
          <a:xfrm>
            <a:off x="8686800" y="434340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locally via Streamlit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localhost:8501</a:t>
            </a:r>
            <a:endParaRPr lang="en-US" sz="1200" dirty="0"/>
          </a:p>
        </p:txBody>
      </p:sp>
      <p:sp>
        <p:nvSpPr>
          <p:cNvPr id="43" name="Text 40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Support Chatbot Agent  •  AI Internship Report  •  Aman Kumar Jha</a:t>
            </a:r>
            <a:endParaRPr lang="en-US" sz="900" dirty="0"/>
          </a:p>
        </p:txBody>
      </p:sp>
      <p:sp>
        <p:nvSpPr>
          <p:cNvPr id="44" name="Text 4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Advantages &amp; Limitations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40680" cy="4480560"/>
          </a:xfrm>
          <a:prstGeom prst="rect">
            <a:avLst>
              <a:gd name="adj" fmla="val 16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1F3B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28800"/>
            <a:ext cx="457200" cy="457200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6" name="Image 0" descr="/home/claude/icons/thumbsup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830" y="1931670"/>
            <a:ext cx="251460" cy="2514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8288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Advantages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68680" y="2514600"/>
            <a:ext cx="484632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spcAft>
                <a:spcPts val="600"/>
              </a:spcAft>
              <a:buSzPct val="100000"/>
              <a:buChar char="✓"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responses to common questions</a:t>
            </a:r>
            <a:endParaRPr lang="en-US" sz="1250" dirty="0"/>
          </a:p>
          <a:p>
            <a:pPr marL="342900" indent="-342900">
              <a:lnSpc>
                <a:spcPct val="135000"/>
              </a:lnSpc>
              <a:spcAft>
                <a:spcPts val="600"/>
              </a:spcAft>
              <a:buSzPct val="100000"/>
              <a:buChar char="✓"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easy-to-use customer interface</a:t>
            </a:r>
            <a:endParaRPr lang="en-US" sz="1250" dirty="0"/>
          </a:p>
          <a:p>
            <a:pPr marL="342900" indent="-342900">
              <a:lnSpc>
                <a:spcPct val="135000"/>
              </a:lnSpc>
              <a:spcAft>
                <a:spcPts val="600"/>
              </a:spcAft>
              <a:buSzPct val="100000"/>
              <a:buChar char="✓"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repetitive work for support staff</a:t>
            </a:r>
            <a:endParaRPr lang="en-US" sz="1250" dirty="0"/>
          </a:p>
          <a:p>
            <a:pPr marL="342900" indent="-342900">
              <a:lnSpc>
                <a:spcPct val="135000"/>
              </a:lnSpc>
              <a:spcAft>
                <a:spcPts val="600"/>
              </a:spcAft>
              <a:buSzPct val="100000"/>
              <a:buChar char="✓"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FAQ information can be updated easily</a:t>
            </a:r>
            <a:endParaRPr lang="en-US" sz="1250" dirty="0"/>
          </a:p>
          <a:p>
            <a:pPr marL="342900" indent="-342900">
              <a:lnSpc>
                <a:spcPct val="135000"/>
              </a:lnSpc>
              <a:spcAft>
                <a:spcPts val="600"/>
              </a:spcAft>
              <a:buSzPct val="100000"/>
              <a:buChar char="✓"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and beginner-friendly</a:t>
            </a:r>
            <a:endParaRPr lang="en-US" sz="1250" dirty="0"/>
          </a:p>
          <a:p>
            <a:pPr marL="342900" indent="-342900">
              <a:lnSpc>
                <a:spcPct val="135000"/>
              </a:lnSpc>
              <a:spcAft>
                <a:spcPts val="600"/>
              </a:spcAft>
              <a:buSzPct val="100000"/>
              <a:buChar char="✓"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external AI API required for this version</a:t>
            </a:r>
            <a:endParaRPr lang="en-US" sz="1250" dirty="0"/>
          </a:p>
          <a:p>
            <a:pPr marL="342900" indent="-342900">
              <a:lnSpc>
                <a:spcPct val="135000"/>
              </a:lnSpc>
              <a:spcAft>
                <a:spcPts val="600"/>
              </a:spcAft>
              <a:buSzPct val="100000"/>
              <a:buChar char="✓"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be expanded into a larger support platform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172200" y="1600200"/>
            <a:ext cx="5440680" cy="4480560"/>
          </a:xfrm>
          <a:prstGeom prst="rect">
            <a:avLst>
              <a:gd name="adj" fmla="val 1633"/>
            </a:avLst>
          </a:prstGeom>
          <a:solidFill>
            <a:srgbClr val="1B1F3B"/>
          </a:solidFill>
          <a:ln/>
        </p:spPr>
      </p:sp>
      <p:sp>
        <p:nvSpPr>
          <p:cNvPr id="10" name="Shape 7"/>
          <p:cNvSpPr/>
          <p:nvPr/>
        </p:nvSpPr>
        <p:spPr>
          <a:xfrm>
            <a:off x="6446520" y="1828800"/>
            <a:ext cx="457200" cy="457200"/>
          </a:xfrm>
          <a:prstGeom prst="ellipse">
            <a:avLst/>
          </a:prstGeom>
          <a:solidFill>
            <a:srgbClr val="FF6B4A"/>
          </a:solidFill>
          <a:ln/>
        </p:spPr>
      </p:sp>
      <p:pic>
        <p:nvPicPr>
          <p:cNvPr id="11" name="Image 1" descr="/home/claude/icons/warning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9390" y="1931670"/>
            <a:ext cx="251460" cy="2514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040880" y="18288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6492240" y="2514600"/>
            <a:ext cx="484632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E4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keyword matching, not a full language model</a:t>
            </a:r>
            <a:endParaRPr lang="en-US" sz="1250" dirty="0"/>
          </a:p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E4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check real-time order information</a:t>
            </a:r>
            <a:endParaRPr lang="en-US" sz="1250" dirty="0"/>
          </a:p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E4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access to real customer accounts or payments</a:t>
            </a:r>
            <a:endParaRPr lang="en-US" sz="1250" dirty="0"/>
          </a:p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E4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Differently worded questions may not always match</a:t>
            </a:r>
            <a:endParaRPr lang="en-US" sz="1250" dirty="0"/>
          </a:p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E4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Responses limited to the stored knowledge base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Support Chatbot Agent  •  AI Internship Report  •  Aman Kumar Jha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272C5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This Project Can Go Next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611880" cy="1920240"/>
          </a:xfrm>
          <a:prstGeom prst="rect">
            <a:avLst>
              <a:gd name="adj" fmla="val 3333"/>
            </a:avLst>
          </a:prstGeom>
          <a:solidFill>
            <a:srgbClr val="272C55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1965960"/>
            <a:ext cx="457200" cy="457200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7" name="Image 0" descr="/home/claude/icons/robot_1B1F3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0110" y="2068830"/>
            <a:ext cx="251460" cy="2514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251460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 Integration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77240" y="2834640"/>
            <a:ext cx="3154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7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large language model for natural, flexible understanding.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343400" y="1737360"/>
            <a:ext cx="3611880" cy="1920240"/>
          </a:xfrm>
          <a:prstGeom prst="rect">
            <a:avLst>
              <a:gd name="adj" fmla="val 3333"/>
            </a:avLst>
          </a:prstGeom>
          <a:solidFill>
            <a:srgbClr val="272C55"/>
          </a:solidFill>
          <a:ln/>
        </p:spPr>
      </p:sp>
      <p:sp>
        <p:nvSpPr>
          <p:cNvPr id="11" name="Shape 8"/>
          <p:cNvSpPr/>
          <p:nvPr/>
        </p:nvSpPr>
        <p:spPr>
          <a:xfrm>
            <a:off x="4572000" y="1965960"/>
            <a:ext cx="457200" cy="457200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12" name="Image 1" descr="/home/claude/icons/database_1B1F3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4870" y="2068830"/>
            <a:ext cx="251460" cy="2514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72000" y="251460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&amp; History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4572000" y="2834640"/>
            <a:ext cx="3154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7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customer profiles, orders, and full chat history.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8138160" y="1737360"/>
            <a:ext cx="3611880" cy="1920240"/>
          </a:xfrm>
          <a:prstGeom prst="rect">
            <a:avLst>
              <a:gd name="adj" fmla="val 3333"/>
            </a:avLst>
          </a:prstGeom>
          <a:solidFill>
            <a:srgbClr val="272C55"/>
          </a:solidFill>
          <a:ln/>
        </p:spPr>
      </p:sp>
      <p:sp>
        <p:nvSpPr>
          <p:cNvPr id="16" name="Shape 12"/>
          <p:cNvSpPr/>
          <p:nvPr/>
        </p:nvSpPr>
        <p:spPr>
          <a:xfrm>
            <a:off x="8366760" y="1965960"/>
            <a:ext cx="457200" cy="457200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17" name="Image 2" descr="/home/claude/icons/rocket_1B1F3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9630" y="2068830"/>
            <a:ext cx="251460" cy="2514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66760" y="251460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APIs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8366760" y="2834640"/>
            <a:ext cx="3154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7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real order-tracking and payment systems for live data.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548640" y="3840480"/>
            <a:ext cx="3611880" cy="1920240"/>
          </a:xfrm>
          <a:prstGeom prst="rect">
            <a:avLst>
              <a:gd name="adj" fmla="val 3333"/>
            </a:avLst>
          </a:prstGeom>
          <a:solidFill>
            <a:srgbClr val="272C55"/>
          </a:solidFill>
          <a:ln/>
        </p:spPr>
      </p:sp>
      <p:sp>
        <p:nvSpPr>
          <p:cNvPr id="21" name="Shape 16"/>
          <p:cNvSpPr/>
          <p:nvPr/>
        </p:nvSpPr>
        <p:spPr>
          <a:xfrm>
            <a:off x="777240" y="4069080"/>
            <a:ext cx="457200" cy="457200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22" name="Image 3" descr="/home/claude/icons/user_1B1F3B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0110" y="4171950"/>
            <a:ext cx="251460" cy="2514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77240" y="461772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Authentication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777240" y="4937760"/>
            <a:ext cx="3154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7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secure customer login and account verification.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4343400" y="3840480"/>
            <a:ext cx="3611880" cy="1920240"/>
          </a:xfrm>
          <a:prstGeom prst="rect">
            <a:avLst>
              <a:gd name="adj" fmla="val 3333"/>
            </a:avLst>
          </a:prstGeom>
          <a:solidFill>
            <a:srgbClr val="272C55"/>
          </a:solidFill>
          <a:ln/>
        </p:spPr>
      </p:sp>
      <p:sp>
        <p:nvSpPr>
          <p:cNvPr id="26" name="Shape 20"/>
          <p:cNvSpPr/>
          <p:nvPr/>
        </p:nvSpPr>
        <p:spPr>
          <a:xfrm>
            <a:off x="4572000" y="4069080"/>
            <a:ext cx="457200" cy="457200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27" name="Image 4" descr="/home/claude/icons/comments_1B1F3B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4870" y="4171950"/>
            <a:ext cx="251460" cy="25146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4572000" y="461772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Multilingual &amp; Voice</a:t>
            </a:r>
            <a:endParaRPr lang="en-US" sz="1400" dirty="0"/>
          </a:p>
        </p:txBody>
      </p:sp>
      <p:sp>
        <p:nvSpPr>
          <p:cNvPr id="29" name="Text 22"/>
          <p:cNvSpPr/>
          <p:nvPr/>
        </p:nvSpPr>
        <p:spPr>
          <a:xfrm>
            <a:off x="4572000" y="4937760"/>
            <a:ext cx="3154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7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multiple languages and voice-based conversations.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8138160" y="3840480"/>
            <a:ext cx="3611880" cy="1920240"/>
          </a:xfrm>
          <a:prstGeom prst="rect">
            <a:avLst>
              <a:gd name="adj" fmla="val 3333"/>
            </a:avLst>
          </a:prstGeom>
          <a:solidFill>
            <a:srgbClr val="272C55"/>
          </a:solidFill>
          <a:ln/>
        </p:spPr>
      </p:sp>
      <p:sp>
        <p:nvSpPr>
          <p:cNvPr id="31" name="Shape 24"/>
          <p:cNvSpPr/>
          <p:nvPr/>
        </p:nvSpPr>
        <p:spPr>
          <a:xfrm>
            <a:off x="8366760" y="4069080"/>
            <a:ext cx="457200" cy="457200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32" name="Image 5" descr="/home/claude/icons/chart_1B1F3B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9630" y="4171950"/>
            <a:ext cx="251460" cy="25146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8366760" y="461772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Analytics &amp; Escalation</a:t>
            </a:r>
            <a:endParaRPr lang="en-US" sz="1400" dirty="0"/>
          </a:p>
        </p:txBody>
      </p:sp>
      <p:sp>
        <p:nvSpPr>
          <p:cNvPr id="34" name="Text 26"/>
          <p:cNvSpPr/>
          <p:nvPr/>
        </p:nvSpPr>
        <p:spPr>
          <a:xfrm>
            <a:off x="8366760" y="4937760"/>
            <a:ext cx="3154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7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analysis, usage analytics, and human-agent handoff.</a:t>
            </a:r>
            <a:endParaRPr lang="en-US" sz="1100" dirty="0"/>
          </a:p>
        </p:txBody>
      </p:sp>
      <p:sp>
        <p:nvSpPr>
          <p:cNvPr id="35" name="Text 27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A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Support Chatbot Agent  •  AI Internship Report  •  Aman Kumar Jha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Internship Successfully Completed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02920" cy="502920"/>
          </a:xfrm>
          <a:prstGeom prst="ellipse">
            <a:avLst/>
          </a:prstGeom>
          <a:solidFill>
            <a:srgbClr val="E4F8F5"/>
          </a:solidFill>
          <a:ln/>
        </p:spPr>
      </p:sp>
      <p:pic>
        <p:nvPicPr>
          <p:cNvPr id="5" name="Image 0" descr="/home/claude/icons/idbadge_1B1F3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940" y="1805940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673352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AWARDED TO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1234440" y="1911096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Aman Kumar Jha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48640" y="2478024"/>
            <a:ext cx="502920" cy="502920"/>
          </a:xfrm>
          <a:prstGeom prst="ellipse">
            <a:avLst/>
          </a:prstGeom>
          <a:solidFill>
            <a:srgbClr val="E4F8F5"/>
          </a:solidFill>
          <a:ln/>
        </p:spPr>
      </p:sp>
      <p:pic>
        <p:nvPicPr>
          <p:cNvPr id="9" name="Image 1" descr="/home/claude/icons/building_1B1F3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" y="2592324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34440" y="2459736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ISSUING ORGANIZATION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1234440" y="269748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Codec Technologies Pvt. Ltd.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548640" y="3264408"/>
            <a:ext cx="502920" cy="502920"/>
          </a:xfrm>
          <a:prstGeom prst="ellipse">
            <a:avLst/>
          </a:prstGeom>
          <a:solidFill>
            <a:srgbClr val="E4F8F5"/>
          </a:solidFill>
          <a:ln/>
        </p:spPr>
      </p:sp>
      <p:pic>
        <p:nvPicPr>
          <p:cNvPr id="13" name="Image 2" descr="/home/claude/icons/bullseye_1B1F3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" y="3378708"/>
            <a:ext cx="274320" cy="2743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34440" y="3246120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1050" dirty="0"/>
          </a:p>
        </p:txBody>
      </p:sp>
      <p:sp>
        <p:nvSpPr>
          <p:cNvPr id="15" name="Text 10"/>
          <p:cNvSpPr/>
          <p:nvPr/>
        </p:nvSpPr>
        <p:spPr>
          <a:xfrm>
            <a:off x="1234440" y="3483864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Intern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548640" y="4050792"/>
            <a:ext cx="502920" cy="502920"/>
          </a:xfrm>
          <a:prstGeom prst="ellipse">
            <a:avLst/>
          </a:prstGeom>
          <a:solidFill>
            <a:srgbClr val="E4F8F5"/>
          </a:solidFill>
          <a:ln/>
        </p:spPr>
      </p:sp>
      <p:pic>
        <p:nvPicPr>
          <p:cNvPr id="17" name="Image 3" descr="/home/claude/icons/calendar_1B1F3B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" y="4165092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234440" y="4032504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1050" dirty="0"/>
          </a:p>
        </p:txBody>
      </p:sp>
      <p:sp>
        <p:nvSpPr>
          <p:cNvPr id="19" name="Text 13"/>
          <p:cNvSpPr/>
          <p:nvPr/>
        </p:nvSpPr>
        <p:spPr>
          <a:xfrm>
            <a:off x="1234440" y="4270248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August 2026 – 03 September 2026</a:t>
            </a:r>
            <a:endParaRPr lang="en-US" sz="1350" dirty="0"/>
          </a:p>
        </p:txBody>
      </p:sp>
      <p:sp>
        <p:nvSpPr>
          <p:cNvPr id="20" name="Shape 14"/>
          <p:cNvSpPr/>
          <p:nvPr/>
        </p:nvSpPr>
        <p:spPr>
          <a:xfrm>
            <a:off x="548640" y="4837176"/>
            <a:ext cx="502920" cy="502920"/>
          </a:xfrm>
          <a:prstGeom prst="ellipse">
            <a:avLst/>
          </a:prstGeom>
          <a:solidFill>
            <a:srgbClr val="E4F8F5"/>
          </a:solidFill>
          <a:ln/>
        </p:spPr>
      </p:sp>
      <p:pic>
        <p:nvPicPr>
          <p:cNvPr id="21" name="Image 4" descr="/home/claude/icons/certificate_1B1F3B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" y="4951476"/>
            <a:ext cx="274320" cy="27432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234440" y="4818888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AICTE ID</a:t>
            </a:r>
            <a:endParaRPr lang="en-US" sz="1050" dirty="0"/>
          </a:p>
        </p:txBody>
      </p:sp>
      <p:sp>
        <p:nvSpPr>
          <p:cNvPr id="23" name="Text 16"/>
          <p:cNvSpPr/>
          <p:nvPr/>
        </p:nvSpPr>
        <p:spPr>
          <a:xfrm>
            <a:off x="1234440" y="5056632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CORPORATE6759d549ce59e1733940553</a:t>
            </a:r>
            <a:endParaRPr lang="en-US" sz="1350" dirty="0"/>
          </a:p>
        </p:txBody>
      </p:sp>
      <p:sp>
        <p:nvSpPr>
          <p:cNvPr id="24" name="Shape 17"/>
          <p:cNvSpPr/>
          <p:nvPr/>
        </p:nvSpPr>
        <p:spPr>
          <a:xfrm>
            <a:off x="548640" y="5669280"/>
            <a:ext cx="5486400" cy="822960"/>
          </a:xfrm>
          <a:prstGeom prst="rect">
            <a:avLst>
              <a:gd name="adj" fmla="val 6667"/>
            </a:avLst>
          </a:prstGeom>
          <a:solidFill>
            <a:srgbClr val="00C2A8"/>
          </a:solidFill>
          <a:ln/>
        </p:spPr>
      </p:sp>
      <p:sp>
        <p:nvSpPr>
          <p:cNvPr id="25" name="Text 18"/>
          <p:cNvSpPr/>
          <p:nvPr/>
        </p:nvSpPr>
        <p:spPr>
          <a:xfrm>
            <a:off x="777240" y="576072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Manager: Dr. Anurag Shrivastava</a:t>
            </a:r>
            <a:endParaRPr lang="en-US" sz="1150" dirty="0"/>
          </a:p>
        </p:txBody>
      </p:sp>
      <p:sp>
        <p:nvSpPr>
          <p:cNvPr id="26" name="Text 19"/>
          <p:cNvSpPr/>
          <p:nvPr/>
        </p:nvSpPr>
        <p:spPr>
          <a:xfrm>
            <a:off x="777240" y="608076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for Education Partner  ·  National Internship Portal</a:t>
            </a:r>
            <a:endParaRPr lang="en-US" sz="1050" dirty="0"/>
          </a:p>
        </p:txBody>
      </p:sp>
      <p:sp>
        <p:nvSpPr>
          <p:cNvPr id="27" name="Shape 20"/>
          <p:cNvSpPr/>
          <p:nvPr/>
        </p:nvSpPr>
        <p:spPr>
          <a:xfrm>
            <a:off x="6492240" y="1600200"/>
            <a:ext cx="5120640" cy="4526280"/>
          </a:xfrm>
          <a:prstGeom prst="rect">
            <a:avLst>
              <a:gd name="adj" fmla="val 1010"/>
            </a:avLst>
          </a:prstGeom>
          <a:solidFill>
            <a:srgbClr val="FFFFFF"/>
          </a:solidFill>
          <a:ln w="38100">
            <a:solidFill>
              <a:srgbClr val="1B1F3B"/>
            </a:solidFill>
            <a:prstDash val="solid"/>
          </a:ln>
          <a:effectLst>
            <a:outerShdw sx="100000" sy="100000" kx="0" ky="0" algn="bl" rotWithShape="0" blurRad="127000" dist="50800" dir="5400000">
              <a:srgbClr val="1B1F3B">
                <a:alpha val="18000"/>
              </a:srgbClr>
            </a:outerShdw>
          </a:effectLst>
        </p:spPr>
      </p:sp>
      <p:sp>
        <p:nvSpPr>
          <p:cNvPr id="28" name="Shape 21"/>
          <p:cNvSpPr/>
          <p:nvPr/>
        </p:nvSpPr>
        <p:spPr>
          <a:xfrm>
            <a:off x="8778240" y="1965960"/>
            <a:ext cx="822960" cy="822960"/>
          </a:xfrm>
          <a:prstGeom prst="ellipse">
            <a:avLst/>
          </a:prstGeom>
          <a:solidFill>
            <a:srgbClr val="1B1F3B"/>
          </a:solidFill>
          <a:ln/>
        </p:spPr>
      </p:sp>
      <p:pic>
        <p:nvPicPr>
          <p:cNvPr id="29" name="Image 5" descr="/home/claude/icons/certificate_00C2A8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63406" y="2151126"/>
            <a:ext cx="452628" cy="452628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6766560" y="292608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CERTIFICATE OF INTERNSHIP</a:t>
            </a:r>
            <a:endParaRPr lang="en-US" sz="1600" dirty="0"/>
          </a:p>
        </p:txBody>
      </p:sp>
      <p:sp>
        <p:nvSpPr>
          <p:cNvPr id="31" name="Shape 23"/>
          <p:cNvSpPr/>
          <p:nvPr/>
        </p:nvSpPr>
        <p:spPr>
          <a:xfrm>
            <a:off x="7863840" y="3401568"/>
            <a:ext cx="2377440" cy="0"/>
          </a:xfrm>
          <a:prstGeom prst="line">
            <a:avLst/>
          </a:prstGeom>
          <a:noFill/>
          <a:ln w="25400">
            <a:solidFill>
              <a:srgbClr val="00C2A8"/>
            </a:solidFill>
            <a:prstDash val="solid"/>
          </a:ln>
        </p:spPr>
      </p:sp>
      <p:sp>
        <p:nvSpPr>
          <p:cNvPr id="32" name="Text 24"/>
          <p:cNvSpPr/>
          <p:nvPr/>
        </p:nvSpPr>
        <p:spPr>
          <a:xfrm>
            <a:off x="6766560" y="35204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certifies that</a:t>
            </a:r>
            <a:endParaRPr lang="en-US" sz="1100" dirty="0"/>
          </a:p>
        </p:txBody>
      </p:sp>
      <p:sp>
        <p:nvSpPr>
          <p:cNvPr id="33" name="Text 25"/>
          <p:cNvSpPr/>
          <p:nvPr/>
        </p:nvSpPr>
        <p:spPr>
          <a:xfrm>
            <a:off x="6766560" y="379476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Aman Kumar Jha</a:t>
            </a:r>
            <a:endParaRPr lang="en-US" sz="2000" dirty="0"/>
          </a:p>
        </p:txBody>
      </p:sp>
      <p:sp>
        <p:nvSpPr>
          <p:cNvPr id="34" name="Text 26"/>
          <p:cNvSpPr/>
          <p:nvPr/>
        </p:nvSpPr>
        <p:spPr>
          <a:xfrm>
            <a:off x="6995160" y="4251960"/>
            <a:ext cx="4114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successfully completed a 1-month AICTE &amp; ICAC approved internship as Artificial Intelligence Intern.</a:t>
            </a:r>
            <a:endParaRPr lang="en-US" sz="1100" dirty="0"/>
          </a:p>
        </p:txBody>
      </p:sp>
      <p:sp>
        <p:nvSpPr>
          <p:cNvPr id="35" name="Text 27"/>
          <p:cNvSpPr/>
          <p:nvPr/>
        </p:nvSpPr>
        <p:spPr>
          <a:xfrm>
            <a:off x="6766560" y="49834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Aug – 03 Sep 2026</a:t>
            </a:r>
            <a:endParaRPr lang="en-US" sz="1200" dirty="0"/>
          </a:p>
        </p:txBody>
      </p:sp>
      <p:sp>
        <p:nvSpPr>
          <p:cNvPr id="36" name="Text 28"/>
          <p:cNvSpPr/>
          <p:nvPr/>
        </p:nvSpPr>
        <p:spPr>
          <a:xfrm>
            <a:off x="6766560" y="55778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Codec Technologies Pvt. Ltd.  ·  Google for Education</a:t>
            </a:r>
            <a:endParaRPr lang="en-US" sz="1000" dirty="0"/>
          </a:p>
        </p:txBody>
      </p:sp>
      <p:sp>
        <p:nvSpPr>
          <p:cNvPr id="37" name="Text 29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Support Chatbot Agent  •  AI Internship Report  •  Aman Kumar Jha</a:t>
            </a:r>
            <a:endParaRPr lang="en-US" sz="900" dirty="0"/>
          </a:p>
        </p:txBody>
      </p:sp>
      <p:sp>
        <p:nvSpPr>
          <p:cNvPr id="38" name="Text 3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4114800"/>
            <a:ext cx="5486400" cy="5486400"/>
          </a:xfrm>
          <a:prstGeom prst="ellipse">
            <a:avLst/>
          </a:prstGeom>
          <a:solidFill>
            <a:srgbClr val="272C55"/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-1828800"/>
            <a:ext cx="4114800" cy="4114800"/>
          </a:xfrm>
          <a:prstGeom prst="ellipse">
            <a:avLst/>
          </a:prstGeom>
          <a:solidFill>
            <a:srgbClr val="272C55"/>
          </a:solidFill>
          <a:ln/>
        </p:spPr>
      </p:sp>
      <p:sp>
        <p:nvSpPr>
          <p:cNvPr id="4" name="Shape 2"/>
          <p:cNvSpPr/>
          <p:nvPr/>
        </p:nvSpPr>
        <p:spPr>
          <a:xfrm>
            <a:off x="5592928" y="1554480"/>
            <a:ext cx="1005840" cy="1005840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5" name="Image 0" descr="/home/claude/icons/robot_1B1F3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19242" y="1780794"/>
            <a:ext cx="553212" cy="5532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0" y="2788920"/>
            <a:ext cx="121916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7" name="Text 4"/>
          <p:cNvSpPr/>
          <p:nvPr/>
        </p:nvSpPr>
        <p:spPr>
          <a:xfrm>
            <a:off x="0" y="361188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Support Chatbot Agent  |  Codec Technologies AI Internship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090008" y="4251960"/>
            <a:ext cx="2011680" cy="0"/>
          </a:xfrm>
          <a:prstGeom prst="line">
            <a:avLst/>
          </a:prstGeom>
          <a:noFill/>
          <a:ln w="12700">
            <a:solidFill>
              <a:srgbClr val="41478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0" y="443484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Aman Kumar Jha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0" y="4800600"/>
            <a:ext cx="121916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FD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University, Greater Noida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2026-09-02T07:17:40Z</dcterms:created>
  <dcterms:modified xsi:type="dcterms:W3CDTF">2026-09-02T07:17:40Z</dcterms:modified>
</cp:coreProperties>
</file>